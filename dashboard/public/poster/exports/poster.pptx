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43891200" cy="329184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oster-background.jpg"/>
          <p:cNvPicPr>
            <a:picLocks noChangeAspect="1"/>
          </p:cNvPicPr>
          <p:nvPr/>
        </p:nvPicPr>
        <p:blipFill>
          <a:blip r:embed="rId2"/>
          <a:stretch>
            <a:fillRect/>
          </a:stretch>
        </p:blipFill>
        <p:spPr>
          <a:xfrm>
            <a:off x="0" y="0"/>
            <a:ext cx="43891200" cy="32918400"/>
          </a:xfrm>
          <a:prstGeom prst="rect">
            <a:avLst/>
          </a:prstGeom>
        </p:spPr>
      </p:pic>
      <p:sp>
        <p:nvSpPr>
          <p:cNvPr id="3" name="TextBox 2"/>
          <p:cNvSpPr txBox="1"/>
          <p:nvPr/>
        </p:nvSpPr>
        <p:spPr>
          <a:xfrm>
            <a:off x="5676900" y="477143"/>
            <a:ext cx="32862774" cy="2971800"/>
          </a:xfrm>
          <a:prstGeom prst="rect">
            <a:avLst/>
          </a:prstGeom>
          <a:noFill/>
        </p:spPr>
        <p:txBody>
          <a:bodyPr wrap="square" anchor="t" lIns="0" rIns="0" tIns="0" bIns="0">
            <a:noAutofit/>
          </a:bodyPr>
          <a:lstStyle/>
          <a:p>
            <a:pPr algn="l">
              <a:lnSpc>
                <a:spcPts val="11700"/>
              </a:lnSpc>
            </a:pPr>
            <a:r>
              <a:rPr b="1" sz="11250">
                <a:solidFill>
                  <a:srgbClr val="FFFFFF"/>
                </a:solidFill>
                <a:latin typeface="IBM Plex Sans"/>
              </a:rPr>
              <a:t>Finding the Edge Cases That Crash Self-Driving Cars</a:t>
            </a:r>
          </a:p>
        </p:txBody>
      </p:sp>
      <p:sp>
        <p:nvSpPr>
          <p:cNvPr id="4" name="TextBox 3"/>
          <p:cNvSpPr txBox="1"/>
          <p:nvPr/>
        </p:nvSpPr>
        <p:spPr>
          <a:xfrm>
            <a:off x="5676900" y="3715643"/>
            <a:ext cx="32862774" cy="685800"/>
          </a:xfrm>
          <a:prstGeom prst="rect">
            <a:avLst/>
          </a:prstGeom>
          <a:noFill/>
        </p:spPr>
        <p:txBody>
          <a:bodyPr wrap="square" anchor="t" lIns="0" rIns="0" tIns="0" bIns="0">
            <a:noAutofit/>
          </a:bodyPr>
          <a:lstStyle/>
          <a:p>
            <a:pPr algn="l">
              <a:lnSpc>
                <a:spcPts val="5400"/>
              </a:lnSpc>
            </a:pPr>
            <a:r>
              <a:rPr b="0" sz="4500">
                <a:solidFill>
                  <a:srgbClr val="FFFFFF"/>
                </a:solidFill>
                <a:latin typeface="IBM Plex Sans"/>
              </a:rPr>
              <a:t>Failure discovery read from inside a vision-language-action driving model, built to work with any VLA</a:t>
            </a:r>
          </a:p>
        </p:txBody>
      </p:sp>
      <p:sp>
        <p:nvSpPr>
          <p:cNvPr id="5" name="TextBox 4"/>
          <p:cNvSpPr txBox="1"/>
          <p:nvPr/>
        </p:nvSpPr>
        <p:spPr>
          <a:xfrm>
            <a:off x="5676900" y="4668143"/>
            <a:ext cx="32862774" cy="569565"/>
          </a:xfrm>
          <a:prstGeom prst="rect">
            <a:avLst/>
          </a:prstGeom>
          <a:noFill/>
        </p:spPr>
        <p:txBody>
          <a:bodyPr wrap="square" anchor="t" lIns="0" rIns="0" tIns="0" bIns="0">
            <a:noAutofit/>
          </a:bodyPr>
          <a:lstStyle/>
          <a:p>
            <a:pPr algn="l">
              <a:lnSpc>
                <a:spcPts val="4484"/>
              </a:lnSpc>
            </a:pPr>
            <a:r>
              <a:rPr b="0" sz="3450">
                <a:solidFill>
                  <a:srgbClr val="FFFFFF"/>
                </a:solidFill>
                <a:latin typeface="IBM Plex Sans Medium"/>
              </a:rPr>
              <a:t>Catherine Wang, Christopher Vu, Jason He, Hiram Lannes, Jerry Yan</a:t>
            </a:r>
            <a:r>
              <a:rPr b="0" sz="3450">
                <a:solidFill>
                  <a:srgbClr val="FDB515"/>
                </a:solidFill>
                <a:latin typeface="IBM Plex Sans Medium"/>
              </a:rPr>
              <a:t>   </a:t>
            </a:r>
            <a:r>
              <a:rPr b="0" sz="3450">
                <a:solidFill>
                  <a:srgbClr val="FDB515"/>
                </a:solidFill>
                <a:latin typeface="IBM Plex Sans Medium"/>
              </a:rPr>
              <a:t>Mentor: Ryan Lingo</a:t>
            </a:r>
          </a:p>
        </p:txBody>
      </p:sp>
      <p:sp>
        <p:nvSpPr>
          <p:cNvPr id="6" name="TextBox 5"/>
          <p:cNvSpPr txBox="1"/>
          <p:nvPr/>
        </p:nvSpPr>
        <p:spPr>
          <a:xfrm>
            <a:off x="914400" y="6400800"/>
            <a:ext cx="15969615" cy="1604665"/>
          </a:xfrm>
          <a:prstGeom prst="rect">
            <a:avLst/>
          </a:prstGeom>
          <a:noFill/>
        </p:spPr>
        <p:txBody>
          <a:bodyPr wrap="square" anchor="t" lIns="0" rIns="0" tIns="0" bIns="0">
            <a:noAutofit/>
          </a:bodyPr>
          <a:lstStyle/>
          <a:p>
            <a:pPr algn="l">
              <a:lnSpc>
                <a:spcPts val="6317"/>
              </a:lnSpc>
            </a:pPr>
            <a:r>
              <a:rPr b="1" sz="5850">
                <a:solidFill>
                  <a:srgbClr val="002676"/>
                </a:solidFill>
                <a:latin typeface="IBM Plex Sans"/>
              </a:rPr>
              <a:t>Test lists only catch the crashes someone imagined</a:t>
            </a:r>
          </a:p>
        </p:txBody>
      </p:sp>
      <p:sp>
        <p:nvSpPr>
          <p:cNvPr id="7" name="TextBox 6"/>
          <p:cNvSpPr txBox="1"/>
          <p:nvPr/>
        </p:nvSpPr>
        <p:spPr>
          <a:xfrm>
            <a:off x="914400" y="8272165"/>
            <a:ext cx="15969615" cy="1760934"/>
          </a:xfrm>
          <a:prstGeom prst="rect">
            <a:avLst/>
          </a:prstGeom>
          <a:noFill/>
        </p:spPr>
        <p:txBody>
          <a:bodyPr wrap="square" anchor="t" lIns="0" rIns="0" tIns="0" bIns="0">
            <a:noAutofit/>
          </a:bodyPr>
          <a:lstStyle/>
          <a:p>
            <a:pPr algn="l">
              <a:lnSpc>
                <a:spcPts val="4623"/>
              </a:lnSpc>
            </a:pPr>
            <a:r>
              <a:rPr b="0" sz="3450">
                <a:solidFill>
                  <a:srgbClr val="3D4A63"/>
                </a:solidFill>
                <a:latin typeface="IBM Plex Sans"/>
              </a:rPr>
              <a:t>Driving models are checked against failures people already thought of. We find new ones by reading the model’s own internal signals, with no list. To prove it works, we plant a failure on purpose: we block the centre of the camera.</a:t>
            </a:r>
          </a:p>
        </p:txBody>
      </p:sp>
      <p:sp>
        <p:nvSpPr>
          <p:cNvPr id="8" name="TextBox 7"/>
          <p:cNvSpPr txBox="1"/>
          <p:nvPr/>
        </p:nvSpPr>
        <p:spPr>
          <a:xfrm>
            <a:off x="17487900" y="10439400"/>
            <a:ext cx="7888605" cy="457200"/>
          </a:xfrm>
          <a:prstGeom prst="rect">
            <a:avLst/>
          </a:prstGeom>
          <a:noFill/>
        </p:spPr>
        <p:txBody>
          <a:bodyPr wrap="square" anchor="t" lIns="0" rIns="0" tIns="0" bIns="0">
            <a:noAutofit/>
          </a:bodyPr>
          <a:lstStyle/>
          <a:p>
            <a:pPr algn="l">
              <a:lnSpc>
                <a:spcPts val="3600"/>
              </a:lnSpc>
            </a:pPr>
            <a:r>
              <a:rPr b="0" sz="3000">
                <a:solidFill>
                  <a:srgbClr val="3D4A63"/>
                </a:solidFill>
                <a:latin typeface="IBM Plex Sans Medium"/>
              </a:rPr>
              <a:t>What the model sees with the planted patch</a:t>
            </a:r>
          </a:p>
        </p:txBody>
      </p:sp>
      <p:sp>
        <p:nvSpPr>
          <p:cNvPr id="9" name="TextBox 8"/>
          <p:cNvSpPr txBox="1"/>
          <p:nvPr/>
        </p:nvSpPr>
        <p:spPr>
          <a:xfrm>
            <a:off x="26517600" y="7010400"/>
            <a:ext cx="16008096" cy="802332"/>
          </a:xfrm>
          <a:prstGeom prst="rect">
            <a:avLst/>
          </a:prstGeom>
          <a:noFill/>
        </p:spPr>
        <p:txBody>
          <a:bodyPr wrap="square" anchor="t" lIns="0" rIns="0" tIns="0" bIns="0">
            <a:noAutofit/>
          </a:bodyPr>
          <a:lstStyle/>
          <a:p>
            <a:pPr algn="l">
              <a:lnSpc>
                <a:spcPts val="6317"/>
              </a:lnSpc>
            </a:pPr>
            <a:r>
              <a:rPr b="1" sz="5850">
                <a:solidFill>
                  <a:srgbClr val="002676"/>
                </a:solidFill>
                <a:latin typeface="IBM Plex Sans"/>
              </a:rPr>
              <a:t>Results</a:t>
            </a:r>
          </a:p>
        </p:txBody>
      </p:sp>
      <p:sp>
        <p:nvSpPr>
          <p:cNvPr id="10" name="TextBox 9"/>
          <p:cNvSpPr txBox="1"/>
          <p:nvPr/>
        </p:nvSpPr>
        <p:spPr>
          <a:xfrm>
            <a:off x="26517600" y="8193732"/>
            <a:ext cx="16008096" cy="481905"/>
          </a:xfrm>
          <a:prstGeom prst="rect">
            <a:avLst/>
          </a:prstGeom>
          <a:noFill/>
        </p:spPr>
        <p:txBody>
          <a:bodyPr wrap="square" anchor="t" lIns="0" rIns="0" tIns="0" bIns="0">
            <a:noAutofit/>
          </a:bodyPr>
          <a:lstStyle/>
          <a:p>
            <a:pPr algn="l">
              <a:lnSpc>
                <a:spcPts val="3795"/>
              </a:lnSpc>
            </a:pPr>
            <a:r>
              <a:rPr b="0" sz="3300">
                <a:solidFill>
                  <a:srgbClr val="0E1B33"/>
                </a:solidFill>
                <a:latin typeface="IBM Plex Sans SemiBold"/>
              </a:rPr>
              <a:t>Blocking the camera centre is a real failure</a:t>
            </a:r>
          </a:p>
        </p:txBody>
      </p:sp>
      <p:sp>
        <p:nvSpPr>
          <p:cNvPr id="11" name="TextBox 10"/>
          <p:cNvSpPr txBox="1"/>
          <p:nvPr/>
        </p:nvSpPr>
        <p:spPr>
          <a:xfrm>
            <a:off x="34747200" y="8866138"/>
            <a:ext cx="7696200" cy="1971675"/>
          </a:xfrm>
          <a:prstGeom prst="rect">
            <a:avLst/>
          </a:prstGeom>
          <a:noFill/>
        </p:spPr>
        <p:txBody>
          <a:bodyPr wrap="square" anchor="t" lIns="0" rIns="0" tIns="0" bIns="0">
            <a:noAutofit/>
          </a:bodyPr>
          <a:lstStyle/>
          <a:p>
            <a:pPr algn="l">
              <a:lnSpc>
                <a:spcPts val="15525"/>
              </a:lnSpc>
            </a:pPr>
            <a:r>
              <a:rPr b="1" sz="17250">
                <a:solidFill>
                  <a:srgbClr val="002676"/>
                </a:solidFill>
                <a:latin typeface="IBM Plex Sans"/>
              </a:rPr>
              <a:t>31</a:t>
            </a:r>
            <a:r>
              <a:rPr b="1" sz="17250">
                <a:solidFill>
                  <a:srgbClr val="002676"/>
                </a:solidFill>
                <a:latin typeface="IBM Plex Sans"/>
              </a:rPr>
              <a:t>:</a:t>
            </a:r>
            <a:r>
              <a:rPr b="1" sz="17250">
                <a:solidFill>
                  <a:srgbClr val="002676"/>
                </a:solidFill>
                <a:latin typeface="IBM Plex Sans"/>
              </a:rPr>
              <a:t>0</a:t>
            </a:r>
          </a:p>
        </p:txBody>
      </p:sp>
      <p:sp>
        <p:nvSpPr>
          <p:cNvPr id="12" name="TextBox 11"/>
          <p:cNvSpPr txBox="1"/>
          <p:nvPr/>
        </p:nvSpPr>
        <p:spPr>
          <a:xfrm>
            <a:off x="34747200" y="10990213"/>
            <a:ext cx="7696200" cy="914400"/>
          </a:xfrm>
          <a:prstGeom prst="rect">
            <a:avLst/>
          </a:prstGeom>
          <a:noFill/>
        </p:spPr>
        <p:txBody>
          <a:bodyPr wrap="square" anchor="t" lIns="0" rIns="0" tIns="0" bIns="0">
            <a:noAutofit/>
          </a:bodyPr>
          <a:lstStyle/>
          <a:p>
            <a:pPr algn="l">
              <a:lnSpc>
                <a:spcPts val="3600"/>
              </a:lnSpc>
            </a:pPr>
            <a:r>
              <a:rPr b="0" sz="3000">
                <a:solidFill>
                  <a:srgbClr val="3D4A63"/>
                </a:solidFill>
                <a:latin typeface="IBM Plex Sans Medium"/>
              </a:rPr>
              <a:t>paired routes that failed only blocked, against only clear (p = </a:t>
            </a:r>
            <a:r>
              <a:rPr b="0" sz="3000">
                <a:solidFill>
                  <a:srgbClr val="3D4A63"/>
                </a:solidFill>
                <a:latin typeface="IBM Plex Sans Medium"/>
              </a:rPr>
              <a:t>9 × 10</a:t>
            </a:r>
            <a:r>
              <a:rPr b="0" sz="2400" baseline="30000">
                <a:solidFill>
                  <a:srgbClr val="3D4A63"/>
                </a:solidFill>
                <a:latin typeface="IBM Plex Sans Medium"/>
              </a:rPr>
              <a:t>−10</a:t>
            </a:r>
            <a:r>
              <a:rPr b="0" sz="3000">
                <a:solidFill>
                  <a:srgbClr val="3D4A63"/>
                </a:solidFill>
                <a:latin typeface="IBM Plex Sans Medium"/>
              </a:rPr>
              <a:t>)</a:t>
            </a:r>
          </a:p>
        </p:txBody>
      </p:sp>
      <p:sp>
        <p:nvSpPr>
          <p:cNvPr id="13" name="TextBox 12"/>
          <p:cNvSpPr txBox="1"/>
          <p:nvPr/>
        </p:nvSpPr>
        <p:spPr>
          <a:xfrm>
            <a:off x="26517600" y="12866638"/>
            <a:ext cx="7696200" cy="481905"/>
          </a:xfrm>
          <a:prstGeom prst="rect">
            <a:avLst/>
          </a:prstGeom>
          <a:noFill/>
        </p:spPr>
        <p:txBody>
          <a:bodyPr wrap="square" anchor="t" lIns="0" rIns="0" tIns="0" bIns="0">
            <a:noAutofit/>
          </a:bodyPr>
          <a:lstStyle/>
          <a:p>
            <a:pPr algn="l">
              <a:lnSpc>
                <a:spcPts val="3795"/>
              </a:lnSpc>
            </a:pPr>
            <a:r>
              <a:rPr b="0" sz="3300">
                <a:solidFill>
                  <a:srgbClr val="0E1B33"/>
                </a:solidFill>
                <a:latin typeface="IBM Plex Sans SemiBold"/>
              </a:rPr>
              <a:t>Layer 10 flags failures best</a:t>
            </a:r>
          </a:p>
        </p:txBody>
      </p:sp>
      <p:sp>
        <p:nvSpPr>
          <p:cNvPr id="14" name="TextBox 13"/>
          <p:cNvSpPr txBox="1"/>
          <p:nvPr/>
        </p:nvSpPr>
        <p:spPr>
          <a:xfrm>
            <a:off x="34747200" y="12866638"/>
            <a:ext cx="7696200" cy="481905"/>
          </a:xfrm>
          <a:prstGeom prst="rect">
            <a:avLst/>
          </a:prstGeom>
          <a:noFill/>
        </p:spPr>
        <p:txBody>
          <a:bodyPr wrap="square" anchor="t" lIns="0" rIns="0" tIns="0" bIns="0">
            <a:noAutofit/>
          </a:bodyPr>
          <a:lstStyle/>
          <a:p>
            <a:pPr algn="l">
              <a:lnSpc>
                <a:spcPts val="3795"/>
              </a:lnSpc>
            </a:pPr>
            <a:r>
              <a:rPr b="0" sz="3300">
                <a:solidFill>
                  <a:srgbClr val="0E1B33"/>
                </a:solidFill>
                <a:latin typeface="IBM Plex Sans SemiBold"/>
              </a:rPr>
              <a:t>Every method finds the easy control</a:t>
            </a:r>
          </a:p>
        </p:txBody>
      </p:sp>
      <p:sp>
        <p:nvSpPr>
          <p:cNvPr id="15" name="TextBox 14"/>
          <p:cNvSpPr txBox="1"/>
          <p:nvPr/>
        </p:nvSpPr>
        <p:spPr>
          <a:xfrm>
            <a:off x="26517600" y="18779728"/>
            <a:ext cx="16008096" cy="396180"/>
          </a:xfrm>
          <a:prstGeom prst="rect">
            <a:avLst/>
          </a:prstGeom>
          <a:noFill/>
        </p:spPr>
        <p:txBody>
          <a:bodyPr wrap="square" anchor="t" lIns="0" rIns="0" tIns="0" bIns="0">
            <a:noAutofit/>
          </a:bodyPr>
          <a:lstStyle/>
          <a:p>
            <a:pPr algn="l">
              <a:lnSpc>
                <a:spcPts val="3120"/>
              </a:lnSpc>
            </a:pPr>
            <a:r>
              <a:rPr b="0" sz="2400">
                <a:solidFill>
                  <a:srgbClr val="5B6780"/>
                </a:solidFill>
                <a:latin typeface="IBM Plex Sans"/>
              </a:rPr>
              <a:t>Measured in CARLA simulation on Bench2Drive routes. Repair by targeted training is next and not measured yet.</a:t>
            </a:r>
          </a:p>
        </p:txBody>
      </p:sp>
      <p:sp>
        <p:nvSpPr>
          <p:cNvPr id="16" name="TextBox 15"/>
          <p:cNvSpPr txBox="1"/>
          <p:nvPr/>
        </p:nvSpPr>
        <p:spPr>
          <a:xfrm>
            <a:off x="1524000" y="20574000"/>
            <a:ext cx="8773668" cy="802332"/>
          </a:xfrm>
          <a:prstGeom prst="rect">
            <a:avLst/>
          </a:prstGeom>
          <a:noFill/>
        </p:spPr>
        <p:txBody>
          <a:bodyPr wrap="square" anchor="t" lIns="0" rIns="0" tIns="0" bIns="0">
            <a:noAutofit/>
          </a:bodyPr>
          <a:lstStyle/>
          <a:p>
            <a:pPr algn="l">
              <a:lnSpc>
                <a:spcPts val="6317"/>
              </a:lnSpc>
            </a:pPr>
            <a:r>
              <a:rPr b="1" sz="5850">
                <a:solidFill>
                  <a:srgbClr val="FDB515"/>
                </a:solidFill>
                <a:latin typeface="IBM Plex Sans"/>
              </a:rPr>
              <a:t>Can you stop in time?</a:t>
            </a:r>
          </a:p>
        </p:txBody>
      </p:sp>
      <p:sp>
        <p:nvSpPr>
          <p:cNvPr id="17" name="TextBox 16"/>
          <p:cNvSpPr txBox="1"/>
          <p:nvPr/>
        </p:nvSpPr>
        <p:spPr>
          <a:xfrm>
            <a:off x="1524000" y="21719232"/>
            <a:ext cx="8773668" cy="1760934"/>
          </a:xfrm>
          <a:prstGeom prst="rect">
            <a:avLst/>
          </a:prstGeom>
          <a:noFill/>
        </p:spPr>
        <p:txBody>
          <a:bodyPr wrap="square" anchor="t" lIns="0" rIns="0" tIns="0" bIns="0">
            <a:noAutofit/>
          </a:bodyPr>
          <a:lstStyle/>
          <a:p>
            <a:pPr algn="l">
              <a:lnSpc>
                <a:spcPts val="4623"/>
              </a:lnSpc>
            </a:pPr>
            <a:r>
              <a:rPr b="0" sz="3450">
                <a:solidFill>
                  <a:srgbClr val="FFFFFF"/>
                </a:solidFill>
                <a:latin typeface="IBM Plex Sans"/>
              </a:rPr>
              <a:t>Scan, then hold Brake when someone steps out. Compare yourself with the model alone and with our SDK.</a:t>
            </a:r>
          </a:p>
        </p:txBody>
      </p:sp>
      <p:sp>
        <p:nvSpPr>
          <p:cNvPr id="18" name="TextBox 17"/>
          <p:cNvSpPr txBox="1"/>
          <p:nvPr/>
        </p:nvSpPr>
        <p:spPr>
          <a:xfrm>
            <a:off x="1524000" y="29474220"/>
            <a:ext cx="4839136" cy="396180"/>
          </a:xfrm>
          <a:prstGeom prst="rect">
            <a:avLst/>
          </a:prstGeom>
          <a:noFill/>
        </p:spPr>
        <p:txBody>
          <a:bodyPr wrap="square" anchor="t" lIns="0" rIns="0" tIns="0" bIns="0">
            <a:noAutofit/>
          </a:bodyPr>
          <a:lstStyle/>
          <a:p>
            <a:pPr algn="l">
              <a:lnSpc>
                <a:spcPts val="3120"/>
              </a:lnSpc>
            </a:pPr>
            <a:r>
              <a:rPr b="0" sz="2400">
                <a:solidFill>
                  <a:srgbClr val="FFFFFF"/>
                </a:solidFill>
                <a:latin typeface="IBM Plex Sans"/>
              </a:rPr>
              <a:t>failure-axis-status.vercel.app/drive</a:t>
            </a:r>
          </a:p>
        </p:txBody>
      </p:sp>
      <p:sp>
        <p:nvSpPr>
          <p:cNvPr id="19" name="TextBox 18"/>
          <p:cNvSpPr txBox="1"/>
          <p:nvPr/>
        </p:nvSpPr>
        <p:spPr>
          <a:xfrm>
            <a:off x="12039600" y="20574000"/>
            <a:ext cx="14930628" cy="802332"/>
          </a:xfrm>
          <a:prstGeom prst="rect">
            <a:avLst/>
          </a:prstGeom>
          <a:noFill/>
        </p:spPr>
        <p:txBody>
          <a:bodyPr wrap="square" anchor="t" lIns="0" rIns="0" tIns="0" bIns="0">
            <a:noAutofit/>
          </a:bodyPr>
          <a:lstStyle/>
          <a:p>
            <a:pPr algn="l">
              <a:lnSpc>
                <a:spcPts val="6317"/>
              </a:lnSpc>
            </a:pPr>
            <a:r>
              <a:rPr b="1" sz="5850">
                <a:solidFill>
                  <a:srgbClr val="002676"/>
                </a:solidFill>
                <a:latin typeface="IBM Plex Sans"/>
              </a:rPr>
              <a:t>How discovery works</a:t>
            </a:r>
          </a:p>
        </p:txBody>
      </p:sp>
      <p:sp>
        <p:nvSpPr>
          <p:cNvPr id="20" name="TextBox 19"/>
          <p:cNvSpPr txBox="1"/>
          <p:nvPr/>
        </p:nvSpPr>
        <p:spPr>
          <a:xfrm>
            <a:off x="12039600" y="27522488"/>
            <a:ext cx="14930628" cy="2347912"/>
          </a:xfrm>
          <a:prstGeom prst="rect">
            <a:avLst/>
          </a:prstGeom>
          <a:noFill/>
        </p:spPr>
        <p:txBody>
          <a:bodyPr wrap="square" anchor="t" lIns="0" rIns="0" tIns="0" bIns="0">
            <a:noAutofit/>
          </a:bodyPr>
          <a:lstStyle/>
          <a:p>
            <a:pPr algn="l">
              <a:lnSpc>
                <a:spcPts val="4623"/>
              </a:lnSpc>
            </a:pPr>
            <a:r>
              <a:rPr b="0" sz="3450">
                <a:solidFill>
                  <a:srgbClr val="3D4A63"/>
                </a:solidFill>
                <a:latin typeface="IBM Plex Sans"/>
              </a:rPr>
              <a:t>We run SimLingo on Bench2Drive routes and record layer 10 on every drive; our two reproductions scored</a:t>
            </a:r>
            <a:r>
              <a:rPr b="0" sz="3450">
                <a:solidFill>
                  <a:srgbClr val="3D4A63"/>
                </a:solidFill>
                <a:latin typeface="IBM Plex Sans"/>
              </a:rPr>
              <a:t> </a:t>
            </a:r>
            <a:r>
              <a:rPr b="0" sz="3450">
                <a:solidFill>
                  <a:srgbClr val="3D4A63"/>
                </a:solidFill>
                <a:latin typeface="IBM Plex Sans"/>
              </a:rPr>
              <a:t>88.3</a:t>
            </a:r>
            <a:r>
              <a:rPr b="0" sz="3450">
                <a:solidFill>
                  <a:srgbClr val="3D4A63"/>
                </a:solidFill>
                <a:latin typeface="IBM Plex Sans"/>
              </a:rPr>
              <a:t> and </a:t>
            </a:r>
            <a:r>
              <a:rPr b="0" sz="3450">
                <a:solidFill>
                  <a:srgbClr val="3D4A63"/>
                </a:solidFill>
                <a:latin typeface="IBM Plex Sans"/>
              </a:rPr>
              <a:t>88.6</a:t>
            </a:r>
            <a:r>
              <a:rPr b="0" sz="3450">
                <a:solidFill>
                  <a:srgbClr val="3D4A63"/>
                </a:solidFill>
                <a:latin typeface="IBM Plex Sans"/>
              </a:rPr>
              <a:t> of 100 over </a:t>
            </a:r>
            <a:r>
              <a:rPr b="0" sz="3450">
                <a:solidFill>
                  <a:srgbClr val="3D4A63"/>
                </a:solidFill>
                <a:latin typeface="IBM Plex Sans"/>
              </a:rPr>
              <a:t>220</a:t>
            </a:r>
            <a:r>
              <a:rPr b="0" sz="3450">
                <a:solidFill>
                  <a:srgbClr val="3D4A63"/>
                </a:solidFill>
                <a:latin typeface="IBM Plex Sans"/>
              </a:rPr>
              <a:t> routes. A plane that separates failing drives from clean ones in those signals is a failure axis, and it names the scenarios to train on next.</a:t>
            </a:r>
          </a:p>
        </p:txBody>
      </p:sp>
      <p:sp>
        <p:nvSpPr>
          <p:cNvPr id="21" name="TextBox 20"/>
          <p:cNvSpPr txBox="1"/>
          <p:nvPr/>
        </p:nvSpPr>
        <p:spPr>
          <a:xfrm>
            <a:off x="28651200" y="20574000"/>
            <a:ext cx="13853160" cy="802332"/>
          </a:xfrm>
          <a:prstGeom prst="rect">
            <a:avLst/>
          </a:prstGeom>
          <a:noFill/>
        </p:spPr>
        <p:txBody>
          <a:bodyPr wrap="square" anchor="t" lIns="0" rIns="0" tIns="0" bIns="0">
            <a:noAutofit/>
          </a:bodyPr>
          <a:lstStyle/>
          <a:p>
            <a:pPr algn="l">
              <a:lnSpc>
                <a:spcPts val="6317"/>
              </a:lnSpc>
            </a:pPr>
            <a:r>
              <a:rPr b="1" sz="5850">
                <a:solidFill>
                  <a:srgbClr val="002676"/>
                </a:solidFill>
                <a:latin typeface="IBM Plex Sans"/>
              </a:rPr>
              <a:t>Planted failures must really fail</a:t>
            </a:r>
          </a:p>
        </p:txBody>
      </p:sp>
      <p:sp>
        <p:nvSpPr>
          <p:cNvPr id="22" name="TextBox 21"/>
          <p:cNvSpPr txBox="1"/>
          <p:nvPr/>
        </p:nvSpPr>
        <p:spPr>
          <a:xfrm>
            <a:off x="28651200" y="21757332"/>
            <a:ext cx="13853160" cy="1760934"/>
          </a:xfrm>
          <a:prstGeom prst="rect">
            <a:avLst/>
          </a:prstGeom>
          <a:noFill/>
        </p:spPr>
        <p:txBody>
          <a:bodyPr wrap="square" anchor="t" lIns="0" rIns="0" tIns="0" bIns="0">
            <a:noAutofit/>
          </a:bodyPr>
          <a:lstStyle/>
          <a:p>
            <a:pPr algn="l">
              <a:lnSpc>
                <a:spcPts val="4623"/>
              </a:lnSpc>
            </a:pPr>
            <a:r>
              <a:rPr b="0" sz="3450">
                <a:solidFill>
                  <a:srgbClr val="3D4A63"/>
                </a:solidFill>
                <a:latin typeface="IBM Plex Sans"/>
              </a:rPr>
              <a:t>We plant failures whose identity is sealed in an answer key, and keep only those that raise failures. Fog and animals look unusual but did not, so they are decoys that discovery must not flag.</a:t>
            </a:r>
          </a:p>
        </p:txBody>
      </p:sp>
      <p:sp>
        <p:nvSpPr>
          <p:cNvPr id="23" name="TextBox 22"/>
          <p:cNvSpPr txBox="1"/>
          <p:nvPr/>
        </p:nvSpPr>
        <p:spPr>
          <a:xfrm>
            <a:off x="28651200" y="27953940"/>
            <a:ext cx="4361130" cy="1916311"/>
          </a:xfrm>
          <a:prstGeom prst="rect">
            <a:avLst/>
          </a:prstGeom>
          <a:noFill/>
        </p:spPr>
        <p:txBody>
          <a:bodyPr wrap="square" anchor="t" lIns="0" rIns="0" tIns="0" bIns="0">
            <a:noAutofit/>
          </a:bodyPr>
          <a:lstStyle/>
          <a:p>
            <a:pPr algn="l">
              <a:lnSpc>
                <a:spcPts val="3795"/>
              </a:lnSpc>
            </a:pPr>
            <a:r>
              <a:rPr b="0" sz="3300">
                <a:solidFill>
                  <a:srgbClr val="0E1B33"/>
                </a:solidFill>
                <a:latin typeface="IBM Plex Sans SemiBold"/>
              </a:rPr>
              <a:t>Centre blocked</a:t>
            </a:r>
            <a:r>
              <a:rPr b="0" sz="3300">
                <a:solidFill>
                  <a:srgbClr val="0E1B33"/>
                </a:solidFill>
                <a:latin typeface="IBM Plex Sans SemiBold"/>
              </a:rPr>
              <a:t>: </a:t>
            </a:r>
            <a:r>
              <a:rPr b="0" sz="3300">
                <a:solidFill>
                  <a:srgbClr val="002676"/>
                </a:solidFill>
                <a:latin typeface="IBM Plex Sans SemiBold"/>
              </a:rPr>
              <a:t>a real gap</a:t>
            </a:r>
          </a:p>
          <a:p>
            <a:pPr algn="l">
              <a:lnSpc>
                <a:spcPts val="3600"/>
              </a:lnSpc>
            </a:pPr>
            <a:r>
              <a:rPr b="0" sz="3000">
                <a:solidFill>
                  <a:srgbClr val="3D4A63"/>
                </a:solidFill>
                <a:latin typeface="IBM Plex Sans Medium"/>
              </a:rPr>
              <a:t>43 of 60 failed, against 12 of 60</a:t>
            </a:r>
          </a:p>
        </p:txBody>
      </p:sp>
      <p:sp>
        <p:nvSpPr>
          <p:cNvPr id="24" name="TextBox 23"/>
          <p:cNvSpPr txBox="1"/>
          <p:nvPr/>
        </p:nvSpPr>
        <p:spPr>
          <a:xfrm>
            <a:off x="33350150" y="27953940"/>
            <a:ext cx="4361130" cy="1434405"/>
          </a:xfrm>
          <a:prstGeom prst="rect">
            <a:avLst/>
          </a:prstGeom>
          <a:noFill/>
        </p:spPr>
        <p:txBody>
          <a:bodyPr wrap="square" anchor="t" lIns="0" rIns="0" tIns="0" bIns="0">
            <a:noAutofit/>
          </a:bodyPr>
          <a:lstStyle/>
          <a:p>
            <a:pPr algn="l">
              <a:lnSpc>
                <a:spcPts val="3795"/>
              </a:lnSpc>
            </a:pPr>
            <a:r>
              <a:rPr b="0" sz="3300">
                <a:solidFill>
                  <a:srgbClr val="0E1B33"/>
                </a:solidFill>
                <a:latin typeface="IBM Plex Sans SemiBold"/>
              </a:rPr>
              <a:t>Dense fog</a:t>
            </a:r>
            <a:r>
              <a:rPr b="0" sz="3300">
                <a:solidFill>
                  <a:srgbClr val="0E1B33"/>
                </a:solidFill>
                <a:latin typeface="IBM Plex Sans SemiBold"/>
              </a:rPr>
              <a:t>: </a:t>
            </a:r>
            <a:r>
              <a:rPr b="0" sz="3300">
                <a:solidFill>
                  <a:srgbClr val="5B6780"/>
                </a:solidFill>
                <a:latin typeface="IBM Plex Sans SemiBold"/>
              </a:rPr>
              <a:t>a decoy</a:t>
            </a:r>
          </a:p>
          <a:p>
            <a:pPr algn="l">
              <a:lnSpc>
                <a:spcPts val="3600"/>
              </a:lnSpc>
            </a:pPr>
            <a:r>
              <a:rPr b="0" sz="3000">
                <a:solidFill>
                  <a:srgbClr val="3D4A63"/>
                </a:solidFill>
                <a:latin typeface="IBM Plex Sans Medium"/>
              </a:rPr>
              <a:t>15 of 59 failed, against 18 of 60</a:t>
            </a:r>
          </a:p>
        </p:txBody>
      </p:sp>
      <p:sp>
        <p:nvSpPr>
          <p:cNvPr id="25" name="TextBox 24"/>
          <p:cNvSpPr txBox="1"/>
          <p:nvPr/>
        </p:nvSpPr>
        <p:spPr>
          <a:xfrm>
            <a:off x="38049101" y="27954089"/>
            <a:ext cx="4361280" cy="1916311"/>
          </a:xfrm>
          <a:prstGeom prst="rect">
            <a:avLst/>
          </a:prstGeom>
          <a:noFill/>
        </p:spPr>
        <p:txBody>
          <a:bodyPr wrap="square" anchor="t" lIns="0" rIns="0" tIns="0" bIns="0">
            <a:noAutofit/>
          </a:bodyPr>
          <a:lstStyle/>
          <a:p>
            <a:pPr algn="l">
              <a:lnSpc>
                <a:spcPts val="3795"/>
              </a:lnSpc>
            </a:pPr>
            <a:r>
              <a:rPr b="0" sz="3300">
                <a:solidFill>
                  <a:srgbClr val="0E1B33"/>
                </a:solidFill>
                <a:latin typeface="IBM Plex Sans SemiBold"/>
              </a:rPr>
              <a:t>Animals crossing</a:t>
            </a:r>
            <a:r>
              <a:rPr b="0" sz="3300">
                <a:solidFill>
                  <a:srgbClr val="0E1B33"/>
                </a:solidFill>
                <a:latin typeface="IBM Plex Sans SemiBold"/>
              </a:rPr>
              <a:t>: </a:t>
            </a:r>
            <a:r>
              <a:rPr b="0" sz="3300">
                <a:solidFill>
                  <a:srgbClr val="5B6780"/>
                </a:solidFill>
                <a:latin typeface="IBM Plex Sans SemiBold"/>
              </a:rPr>
              <a:t>a decoy</a:t>
            </a:r>
          </a:p>
          <a:p>
            <a:pPr algn="l">
              <a:lnSpc>
                <a:spcPts val="3600"/>
              </a:lnSpc>
            </a:pPr>
            <a:r>
              <a:rPr b="0" sz="3000">
                <a:solidFill>
                  <a:srgbClr val="3D4A63"/>
                </a:solidFill>
                <a:latin typeface="IBM Plex Sans Medium"/>
              </a:rPr>
              <a:t>1 of 9 failed, against 2 of 10</a:t>
            </a:r>
          </a:p>
        </p:txBody>
      </p:sp>
      <p:sp>
        <p:nvSpPr>
          <p:cNvPr id="26" name="TextBox 25"/>
          <p:cNvSpPr txBox="1"/>
          <p:nvPr/>
        </p:nvSpPr>
        <p:spPr>
          <a:xfrm>
            <a:off x="914400" y="31394400"/>
            <a:ext cx="1690909" cy="457200"/>
          </a:xfrm>
          <a:prstGeom prst="rect">
            <a:avLst/>
          </a:prstGeom>
          <a:noFill/>
        </p:spPr>
        <p:txBody>
          <a:bodyPr wrap="square" anchor="t" lIns="0" rIns="0" tIns="0" bIns="0">
            <a:noAutofit/>
          </a:bodyPr>
          <a:lstStyle/>
          <a:p>
            <a:pPr algn="l">
              <a:lnSpc>
                <a:spcPts val="3600"/>
              </a:lnSpc>
            </a:pPr>
            <a:r>
              <a:rPr b="0" sz="3000">
                <a:solidFill>
                  <a:srgbClr val="3D4A63"/>
                </a:solidFill>
                <a:latin typeface="IBM Plex Sans Medium"/>
              </a:rPr>
              <a:t>Built with</a:t>
            </a:r>
          </a:p>
        </p:txBody>
      </p:sp>
      <p:sp>
        <p:nvSpPr>
          <p:cNvPr id="27" name="TextBox 26"/>
          <p:cNvSpPr txBox="1"/>
          <p:nvPr/>
        </p:nvSpPr>
        <p:spPr>
          <a:xfrm>
            <a:off x="3121968" y="31337250"/>
            <a:ext cx="2497056" cy="571500"/>
          </a:xfrm>
          <a:prstGeom prst="rect">
            <a:avLst/>
          </a:prstGeom>
          <a:noFill/>
        </p:spPr>
        <p:txBody>
          <a:bodyPr wrap="square" anchor="t" lIns="0" rIns="0" tIns="0" bIns="0">
            <a:noAutofit/>
          </a:bodyPr>
          <a:lstStyle/>
          <a:p>
            <a:pPr algn="l">
              <a:lnSpc>
                <a:spcPts val="4500"/>
              </a:lnSpc>
            </a:pPr>
            <a:r>
              <a:rPr b="1" sz="4500">
                <a:solidFill>
                  <a:srgbClr val="0E1B33"/>
                </a:solidFill>
                <a:latin typeface="IBM Plex Sans"/>
              </a:rPr>
              <a:t>SimLingo</a:t>
            </a:r>
          </a:p>
        </p:txBody>
      </p:sp>
      <p:sp>
        <p:nvSpPr>
          <p:cNvPr id="28" name="TextBox 27"/>
          <p:cNvSpPr txBox="1"/>
          <p:nvPr/>
        </p:nvSpPr>
        <p:spPr>
          <a:xfrm>
            <a:off x="6127700" y="31337250"/>
            <a:ext cx="3473211" cy="571500"/>
          </a:xfrm>
          <a:prstGeom prst="rect">
            <a:avLst/>
          </a:prstGeom>
          <a:noFill/>
        </p:spPr>
        <p:txBody>
          <a:bodyPr wrap="square" anchor="t" lIns="0" rIns="0" tIns="0" bIns="0">
            <a:noAutofit/>
          </a:bodyPr>
          <a:lstStyle/>
          <a:p>
            <a:pPr algn="l">
              <a:lnSpc>
                <a:spcPts val="4500"/>
              </a:lnSpc>
            </a:pPr>
            <a:r>
              <a:rPr b="1" sz="4500">
                <a:solidFill>
                  <a:srgbClr val="0E1B33"/>
                </a:solidFill>
                <a:latin typeface="IBM Plex Sans"/>
              </a:rPr>
              <a:t>Bench2Drive</a:t>
            </a:r>
          </a:p>
        </p:txBody>
      </p:sp>
      <p:sp>
        <p:nvSpPr>
          <p:cNvPr id="29" name="TextBox 28"/>
          <p:cNvSpPr txBox="1"/>
          <p:nvPr/>
        </p:nvSpPr>
        <p:spPr>
          <a:xfrm>
            <a:off x="16554004" y="31337250"/>
            <a:ext cx="3630141" cy="571500"/>
          </a:xfrm>
          <a:prstGeom prst="rect">
            <a:avLst/>
          </a:prstGeom>
          <a:noFill/>
        </p:spPr>
        <p:txBody>
          <a:bodyPr wrap="square" anchor="t" lIns="0" rIns="0" tIns="0" bIns="0">
            <a:noAutofit/>
          </a:bodyPr>
          <a:lstStyle/>
          <a:p>
            <a:pPr algn="l">
              <a:lnSpc>
                <a:spcPts val="4500"/>
              </a:lnSpc>
            </a:pPr>
            <a:r>
              <a:rPr b="1" sz="4500">
                <a:solidFill>
                  <a:srgbClr val="0E1B33"/>
                </a:solidFill>
                <a:latin typeface="IBM Plex Sans"/>
              </a:rPr>
              <a:t>Hugging Face</a:t>
            </a:r>
          </a:p>
        </p:txBody>
      </p:sp>
      <p:sp>
        <p:nvSpPr>
          <p:cNvPr id="30" name="TextBox 29"/>
          <p:cNvSpPr txBox="1"/>
          <p:nvPr/>
        </p:nvSpPr>
        <p:spPr>
          <a:xfrm>
            <a:off x="21977003" y="31337250"/>
            <a:ext cx="1484074" cy="571500"/>
          </a:xfrm>
          <a:prstGeom prst="rect">
            <a:avLst/>
          </a:prstGeom>
          <a:noFill/>
        </p:spPr>
        <p:txBody>
          <a:bodyPr wrap="square" anchor="t" lIns="0" rIns="0" tIns="0" bIns="0">
            <a:noAutofit/>
          </a:bodyPr>
          <a:lstStyle/>
          <a:p>
            <a:pPr algn="l">
              <a:lnSpc>
                <a:spcPts val="4500"/>
              </a:lnSpc>
            </a:pPr>
            <a:r>
              <a:rPr b="1" sz="4500">
                <a:solidFill>
                  <a:srgbClr val="0E1B33"/>
                </a:solidFill>
                <a:latin typeface="IBM Plex Sans"/>
              </a:rPr>
              <a:t>Savio</a:t>
            </a:r>
          </a:p>
        </p:txBody>
      </p:sp>
      <p:sp>
        <p:nvSpPr>
          <p:cNvPr id="31" name="TextBox 30"/>
          <p:cNvSpPr txBox="1"/>
          <p:nvPr/>
        </p:nvSpPr>
        <p:spPr>
          <a:xfrm>
            <a:off x="30594300" y="31028729"/>
            <a:ext cx="12506325" cy="1188541"/>
          </a:xfrm>
          <a:prstGeom prst="rect">
            <a:avLst/>
          </a:prstGeom>
          <a:noFill/>
        </p:spPr>
        <p:txBody>
          <a:bodyPr wrap="square" anchor="t" lIns="0" rIns="0" tIns="0" bIns="0">
            <a:noAutofit/>
          </a:bodyPr>
          <a:lstStyle/>
          <a:p>
            <a:pPr algn="r">
              <a:lnSpc>
                <a:spcPts val="3120"/>
              </a:lnSpc>
            </a:pPr>
            <a:r>
              <a:rPr b="0" sz="2400">
                <a:solidFill>
                  <a:srgbClr val="5B6780"/>
                </a:solidFill>
                <a:latin typeface="IBM Plex Sans"/>
              </a:rPr>
              <a:t>SimLingo: Renz et al., CVPR 2025. Bench2Drive: Jia et al., NeurIPS 2024. CARLA: Dosovitskiy et al., CoRL 2017. Overlap is Jaccard similarity: shared failures over combined failures.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